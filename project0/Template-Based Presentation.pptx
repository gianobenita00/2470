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et" charset="1" panose="00000000000000000000"/>
      <p:regular r:id="rId13"/>
    </p:embeddedFont>
    <p:embeddedFont>
      <p:font typeface="Belleza" charset="1" panose="02000503050000020003"/>
      <p:regular r:id="rId14"/>
    </p:embeddedFont>
    <p:embeddedFont>
      <p:font typeface="Garet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319495">
            <a:off x="9960251" y="-2760576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09" y="0"/>
                </a:lnTo>
                <a:lnTo>
                  <a:pt x="13536409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0918" y="4141238"/>
            <a:ext cx="11766165" cy="126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88"/>
              </a:lnSpc>
            </a:pPr>
            <a:r>
              <a:rPr lang="en-US" sz="9140" spc="2769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BANK OF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99566" y="8592004"/>
            <a:ext cx="4859734" cy="68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85"/>
              </a:lnSpc>
              <a:spcBef>
                <a:spcPct val="0"/>
              </a:spcBef>
            </a:pPr>
            <a:r>
              <a:rPr lang="en-US" sz="3918" spc="86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Gian Obenita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33208" y="3289029"/>
            <a:ext cx="8088980" cy="39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05"/>
              </a:lnSpc>
              <a:spcBef>
                <a:spcPct val="0"/>
              </a:spcBef>
            </a:pPr>
            <a:r>
              <a:rPr lang="en-US" sz="2218" spc="159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Java + PostgreSQL Terminal Banking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0918" y="5486400"/>
            <a:ext cx="11766165" cy="127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4"/>
              </a:lnSpc>
            </a:pPr>
            <a:r>
              <a:rPr lang="en-US" b="true" sz="9240" spc="2799">
                <a:solidFill>
                  <a:srgbClr val="24341C"/>
                </a:solidFill>
                <a:latin typeface="Garet Bold"/>
                <a:ea typeface="Garet Bold"/>
                <a:cs typeface="Garet Bold"/>
                <a:sym typeface="Garet Bold"/>
              </a:rPr>
              <a:t>CLI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2700000">
            <a:off x="-5363346" y="5182512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46609" y="3619948"/>
            <a:ext cx="11252766" cy="486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8"/>
              </a:lnSpc>
            </a:pPr>
            <a:r>
              <a:rPr lang="en-US" sz="4606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Bank of CLI is a terminal-based banking application designed for command-line interface users. It provides a fully functional banking experience directly from the terminal, enabling account management, transactions, and history tracking without a graphical interface.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6609" y="1792237"/>
            <a:ext cx="7142513" cy="111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6"/>
              </a:lnSpc>
            </a:pPr>
            <a:r>
              <a:rPr lang="en-US" sz="6433" spc="1717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OVERVIEW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3309696">
            <a:off x="15480206" y="1775637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172942">
            <a:off x="9429413" y="202519"/>
            <a:ext cx="15974254" cy="8943414"/>
          </a:xfrm>
          <a:custGeom>
            <a:avLst/>
            <a:gdLst/>
            <a:ahLst/>
            <a:cxnLst/>
            <a:rect r="r" b="b" t="t" l="l"/>
            <a:pathLst>
              <a:path h="8943414" w="15974254">
                <a:moveTo>
                  <a:pt x="0" y="0"/>
                </a:moveTo>
                <a:lnTo>
                  <a:pt x="15974254" y="0"/>
                </a:lnTo>
                <a:lnTo>
                  <a:pt x="15974254" y="8943414"/>
                </a:lnTo>
                <a:lnTo>
                  <a:pt x="0" y="8943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18642" y="1350188"/>
            <a:ext cx="10726410" cy="147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78"/>
              </a:lnSpc>
            </a:pPr>
            <a:r>
              <a:rPr lang="en-US" sz="8627" spc="1587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MVP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9085" y="3548554"/>
            <a:ext cx="9646609" cy="586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Register with Account ID &amp; PIN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Secure Login Process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Check Account Balance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Deposit &amp; Withdraw Funds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Transfer Between Accounts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View Transaction History</a:t>
            </a:r>
          </a:p>
          <a:p>
            <a:pPr algn="just" marL="904178" indent="-452089" lvl="1">
              <a:lnSpc>
                <a:spcPts val="5863"/>
              </a:lnSpc>
              <a:buAutoNum type="arabicPeriod" startAt="1"/>
            </a:pPr>
            <a:r>
              <a:rPr lang="en-US" sz="4187" spc="92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Action Logs &amp; Traceability</a:t>
            </a:r>
          </a:p>
          <a:p>
            <a:pPr algn="just">
              <a:lnSpc>
                <a:spcPts val="586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3173187">
            <a:off x="7627851" y="4240598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906445">
            <a:off x="6362675" y="3968708"/>
            <a:ext cx="2498868" cy="2498868"/>
            <a:chOff x="0" y="0"/>
            <a:chExt cx="3331824" cy="3331824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F7D4F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950701">
            <a:off x="9474369" y="4005852"/>
            <a:ext cx="2498868" cy="2498868"/>
            <a:chOff x="0" y="0"/>
            <a:chExt cx="3331824" cy="3331824"/>
          </a:xfrm>
        </p:grpSpPr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8EA682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2700000">
            <a:off x="7917173" y="6667201"/>
            <a:ext cx="2521050" cy="2521050"/>
            <a:chOff x="0" y="0"/>
            <a:chExt cx="3361401" cy="3361401"/>
          </a:xfrm>
        </p:grpSpPr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399261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8EA682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453674">
            <a:off x="10255172" y="4770099"/>
            <a:ext cx="831696" cy="1012858"/>
          </a:xfrm>
          <a:custGeom>
            <a:avLst/>
            <a:gdLst/>
            <a:ahLst/>
            <a:cxnLst/>
            <a:rect r="r" b="b" t="t" l="l"/>
            <a:pathLst>
              <a:path h="1012858" w="831696">
                <a:moveTo>
                  <a:pt x="0" y="0"/>
                </a:moveTo>
                <a:lnTo>
                  <a:pt x="831696" y="0"/>
                </a:lnTo>
                <a:lnTo>
                  <a:pt x="831696" y="1012858"/>
                </a:lnTo>
                <a:lnTo>
                  <a:pt x="0" y="1012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63094">
            <a:off x="8593919" y="7335967"/>
            <a:ext cx="1173566" cy="1222464"/>
          </a:xfrm>
          <a:custGeom>
            <a:avLst/>
            <a:gdLst/>
            <a:ahLst/>
            <a:cxnLst/>
            <a:rect r="r" b="b" t="t" l="l"/>
            <a:pathLst>
              <a:path h="1222464" w="1173566">
                <a:moveTo>
                  <a:pt x="0" y="0"/>
                </a:moveTo>
                <a:lnTo>
                  <a:pt x="1173566" y="0"/>
                </a:lnTo>
                <a:lnTo>
                  <a:pt x="1173566" y="1222464"/>
                </a:lnTo>
                <a:lnTo>
                  <a:pt x="0" y="1222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818652">
            <a:off x="-1022006" y="-10345319"/>
            <a:ext cx="9400422" cy="9722890"/>
          </a:xfrm>
          <a:custGeom>
            <a:avLst/>
            <a:gdLst/>
            <a:ahLst/>
            <a:cxnLst/>
            <a:rect r="r" b="b" t="t" l="l"/>
            <a:pathLst>
              <a:path h="9722890" w="9400422">
                <a:moveTo>
                  <a:pt x="0" y="0"/>
                </a:moveTo>
                <a:lnTo>
                  <a:pt x="9400422" y="0"/>
                </a:lnTo>
                <a:lnTo>
                  <a:pt x="9400422" y="9722889"/>
                </a:lnTo>
                <a:lnTo>
                  <a:pt x="0" y="9722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-719102">
            <a:off x="6837990" y="4827305"/>
            <a:ext cx="1577615" cy="775438"/>
            <a:chOff x="0" y="0"/>
            <a:chExt cx="749300" cy="368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9300" cy="368300"/>
            </a:xfrm>
            <a:custGeom>
              <a:avLst/>
              <a:gdLst/>
              <a:ahLst/>
              <a:cxnLst/>
              <a:rect r="r" b="b" t="t" l="l"/>
              <a:pathLst>
                <a:path h="368300" w="749300">
                  <a:moveTo>
                    <a:pt x="367441" y="0"/>
                  </a:moveTo>
                  <a:cubicBezTo>
                    <a:pt x="436099" y="0"/>
                    <a:pt x="494039" y="38550"/>
                    <a:pt x="512535" y="91352"/>
                  </a:cubicBezTo>
                  <a:cubicBezTo>
                    <a:pt x="534956" y="83612"/>
                    <a:pt x="560523" y="83235"/>
                    <a:pt x="585056" y="92056"/>
                  </a:cubicBezTo>
                  <a:cubicBezTo>
                    <a:pt x="626894" y="107104"/>
                    <a:pt x="653482" y="144471"/>
                    <a:pt x="654865" y="184150"/>
                  </a:cubicBezTo>
                  <a:lnTo>
                    <a:pt x="655632" y="184150"/>
                  </a:lnTo>
                  <a:cubicBezTo>
                    <a:pt x="707361" y="184150"/>
                    <a:pt x="749300" y="225379"/>
                    <a:pt x="749300" y="276231"/>
                  </a:cubicBezTo>
                  <a:cubicBezTo>
                    <a:pt x="749299" y="327082"/>
                    <a:pt x="707361" y="368300"/>
                    <a:pt x="655632" y="368300"/>
                  </a:cubicBezTo>
                  <a:lnTo>
                    <a:pt x="93668" y="368300"/>
                  </a:lnTo>
                  <a:cubicBezTo>
                    <a:pt x="41940" y="368299"/>
                    <a:pt x="0" y="327082"/>
                    <a:pt x="0" y="276231"/>
                  </a:cubicBezTo>
                  <a:cubicBezTo>
                    <a:pt x="0" y="219212"/>
                    <a:pt x="48637" y="184150"/>
                    <a:pt x="102699" y="184150"/>
                  </a:cubicBezTo>
                  <a:cubicBezTo>
                    <a:pt x="87269" y="132669"/>
                    <a:pt x="127519" y="81476"/>
                    <a:pt x="180312" y="75192"/>
                  </a:cubicBezTo>
                  <a:cubicBezTo>
                    <a:pt x="196649" y="73249"/>
                    <a:pt x="212467" y="75480"/>
                    <a:pt x="226582" y="80951"/>
                  </a:cubicBezTo>
                  <a:cubicBezTo>
                    <a:pt x="248651" y="33566"/>
                    <a:pt x="303380" y="0"/>
                    <a:pt x="367441" y="0"/>
                  </a:cubicBezTo>
                  <a:close/>
                </a:path>
              </a:pathLst>
            </a:custGeom>
            <a:solidFill>
              <a:srgbClr val="5F7D4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53975"/>
              <a:ext cx="482600" cy="314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664396" y="1961822"/>
            <a:ext cx="13142058" cy="116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4"/>
              </a:lnSpc>
            </a:pPr>
            <a:r>
              <a:rPr lang="en-US" sz="8548" spc="2957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ARCHITECTURE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94183" y="3513879"/>
            <a:ext cx="3071543" cy="3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b="true" sz="2010" spc="-46">
                <a:solidFill>
                  <a:srgbClr val="24341C"/>
                </a:solidFill>
                <a:latin typeface="Garet Bold"/>
                <a:ea typeface="Garet Bold"/>
                <a:cs typeface="Garet Bold"/>
                <a:sym typeface="Garet Bold"/>
              </a:rPr>
              <a:t>API 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39939" y="3513879"/>
            <a:ext cx="3418129" cy="3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b="true" sz="2010" spc="-46">
                <a:solidFill>
                  <a:srgbClr val="24341C"/>
                </a:solidFill>
                <a:latin typeface="Garet Bold"/>
                <a:ea typeface="Garet Bold"/>
                <a:cs typeface="Garet Bold"/>
                <a:sym typeface="Garet Bold"/>
              </a:rPr>
              <a:t>Repository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59505" y="6908097"/>
            <a:ext cx="3071543" cy="34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  <a:spcBef>
                <a:spcPct val="0"/>
              </a:spcBef>
            </a:pPr>
            <a:r>
              <a:rPr lang="en-US" b="true" sz="2010" spc="-46">
                <a:solidFill>
                  <a:srgbClr val="24341C"/>
                </a:solidFill>
                <a:latin typeface="Garet Bold"/>
                <a:ea typeface="Garet Bold"/>
                <a:cs typeface="Garet Bold"/>
                <a:sym typeface="Garet Bold"/>
              </a:rPr>
              <a:t>Business Layer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94183" y="3996206"/>
            <a:ext cx="2689114" cy="110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9"/>
              </a:lnSpc>
            </a:pPr>
            <a:r>
              <a:rPr lang="en-US" sz="1645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Manages application menus and handles all user input from the terminal interface. Entry point for all CLI interactions.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59505" y="7544262"/>
            <a:ext cx="2933584" cy="10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9"/>
              </a:lnSpc>
            </a:pPr>
            <a:r>
              <a:rPr lang="en-US" sz="1645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Enforces business rules and core application logic. Processes operations such as transfers, deposits, and account validation.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39939" y="3996206"/>
            <a:ext cx="2699178" cy="10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9"/>
              </a:lnSpc>
            </a:pPr>
            <a:r>
              <a:rPr lang="en-US" sz="1645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Handles all SQL queries and direct database interactions. Bridges the business layer with persistent PostgreSQL storage.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19495">
            <a:off x="-3230039" y="4086929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3"/>
                </a:lnTo>
                <a:lnTo>
                  <a:pt x="0" y="757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1609785" y="1792052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1162" y="866775"/>
            <a:ext cx="7262838" cy="300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8"/>
              </a:lnSpc>
            </a:pPr>
            <a:r>
              <a:rPr lang="en-US" sz="8627" spc="1587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TECH </a:t>
            </a:r>
          </a:p>
          <a:p>
            <a:pPr algn="l" marL="0" indent="0" lvl="0">
              <a:lnSpc>
                <a:spcPts val="12078"/>
              </a:lnSpc>
            </a:pPr>
            <a:r>
              <a:rPr lang="en-US" sz="8627" spc="1587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   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01189" y="952500"/>
            <a:ext cx="1548627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J</a:t>
            </a: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ava 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58540" y="2088996"/>
            <a:ext cx="1548627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Maven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58540" y="3184459"/>
            <a:ext cx="1548627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JDBC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1609785" y="2887514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935639" y="4321106"/>
            <a:ext cx="1994428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PostgreSQL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11609785" y="4024162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1609785" y="5160810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35639" y="5457754"/>
            <a:ext cx="1994428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JUnit 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11609785" y="6320669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35639" y="6641254"/>
            <a:ext cx="1994428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SLF4J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11609785" y="7504447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35639" y="7777796"/>
            <a:ext cx="1994428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Docker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5400000">
            <a:off x="11609785" y="8617348"/>
            <a:ext cx="646138" cy="100151"/>
          </a:xfrm>
          <a:custGeom>
            <a:avLst/>
            <a:gdLst/>
            <a:ahLst/>
            <a:cxnLst/>
            <a:rect r="r" b="b" t="t" l="l"/>
            <a:pathLst>
              <a:path h="100151" w="646138">
                <a:moveTo>
                  <a:pt x="0" y="0"/>
                </a:moveTo>
                <a:lnTo>
                  <a:pt x="646137" y="0"/>
                </a:lnTo>
                <a:lnTo>
                  <a:pt x="646137" y="100151"/>
                </a:lnTo>
                <a:lnTo>
                  <a:pt x="0" y="100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935639" y="8936921"/>
            <a:ext cx="1994428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Git/Github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9778" y="952500"/>
            <a:ext cx="4139976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application logic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49816" y="1845059"/>
            <a:ext cx="5239901" cy="113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build tool &amp; dependency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7167" y="3184610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connects java to PostgreSQL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07167" y="4272070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stores the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49816" y="5459165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handles the testing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30068" y="6644849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info and error logging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49816" y="7777796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runs PostgreSQL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07167" y="8936921"/>
            <a:ext cx="5239901" cy="56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spc="-74">
                <a:solidFill>
                  <a:srgbClr val="24341C"/>
                </a:solidFill>
                <a:latin typeface="Belleza"/>
                <a:ea typeface="Belleza"/>
                <a:cs typeface="Belleza"/>
                <a:sym typeface="Belleza"/>
              </a:rPr>
              <a:t>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365658">
            <a:off x="1900879" y="6411679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3"/>
                </a:lnTo>
                <a:lnTo>
                  <a:pt x="0" y="757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0918" y="4571703"/>
            <a:ext cx="11766165" cy="126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88"/>
              </a:lnSpc>
            </a:pPr>
            <a:r>
              <a:rPr lang="en-US" sz="9140" spc="2769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DEMO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11986448" y="-1996243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09" y="0"/>
                </a:lnTo>
                <a:lnTo>
                  <a:pt x="13536409" y="7578553"/>
                </a:lnTo>
                <a:lnTo>
                  <a:pt x="0" y="757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1502" y="576622"/>
            <a:ext cx="17012392" cy="9133756"/>
            <a:chOff x="0" y="0"/>
            <a:chExt cx="6336891" cy="3402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36891" cy="3402203"/>
            </a:xfrm>
            <a:custGeom>
              <a:avLst/>
              <a:gdLst/>
              <a:ahLst/>
              <a:cxnLst/>
              <a:rect r="r" b="b" t="t" l="l"/>
              <a:pathLst>
                <a:path h="3402203" w="6336891">
                  <a:moveTo>
                    <a:pt x="0" y="0"/>
                  </a:moveTo>
                  <a:lnTo>
                    <a:pt x="6336891" y="0"/>
                  </a:lnTo>
                  <a:lnTo>
                    <a:pt x="6336891" y="3402203"/>
                  </a:lnTo>
                  <a:lnTo>
                    <a:pt x="0" y="3402203"/>
                  </a:lnTo>
                  <a:close/>
                </a:path>
              </a:pathLst>
            </a:custGeom>
            <a:ln w="38100" cap="sq">
              <a:solidFill>
                <a:srgbClr val="8EA68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336891" cy="3411728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 marL="0" indent="0" lvl="0">
                <a:lnSpc>
                  <a:spcPts val="1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8319495">
            <a:off x="11805887" y="5721896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0918" y="4141238"/>
            <a:ext cx="11766165" cy="249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8"/>
              </a:lnSpc>
            </a:pPr>
            <a:r>
              <a:rPr lang="en-US" sz="9140" spc="2769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THANK </a:t>
            </a:r>
          </a:p>
          <a:p>
            <a:pPr algn="ctr" marL="0" indent="0" lvl="0">
              <a:lnSpc>
                <a:spcPts val="9688"/>
              </a:lnSpc>
            </a:pPr>
            <a:r>
              <a:rPr lang="en-US" sz="9140" spc="2769">
                <a:solidFill>
                  <a:srgbClr val="24341C"/>
                </a:solidFill>
                <a:latin typeface="Garet"/>
                <a:ea typeface="Garet"/>
                <a:cs typeface="Garet"/>
                <a:sym typeface="Garet"/>
              </a:rPr>
              <a:t>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-6768205" y="-4027029"/>
            <a:ext cx="13536410" cy="7578552"/>
          </a:xfrm>
          <a:custGeom>
            <a:avLst/>
            <a:gdLst/>
            <a:ahLst/>
            <a:cxnLst/>
            <a:rect r="r" b="b" t="t" l="l"/>
            <a:pathLst>
              <a:path h="7578552" w="13536410">
                <a:moveTo>
                  <a:pt x="0" y="0"/>
                </a:moveTo>
                <a:lnTo>
                  <a:pt x="13536410" y="0"/>
                </a:lnTo>
                <a:lnTo>
                  <a:pt x="13536410" y="7578552"/>
                </a:lnTo>
                <a:lnTo>
                  <a:pt x="0" y="757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DAHWHx4z4LE</dc:identifier>
  <dcterms:modified xsi:type="dcterms:W3CDTF">2011-08-01T06:04:30Z</dcterms:modified>
  <cp:revision>1</cp:revision>
  <dc:title>Template-Based Presentation</dc:title>
</cp:coreProperties>
</file>